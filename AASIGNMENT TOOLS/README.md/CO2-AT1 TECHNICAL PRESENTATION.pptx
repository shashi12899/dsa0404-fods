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3" name="Shape 1"/>
          <p:cNvSpPr/>
          <p:nvPr/>
        </p:nvSpPr>
        <p:spPr>
          <a:xfrm>
            <a:off x="10881360" y="4937760"/>
            <a:ext cx="2377440" cy="2377440"/>
          </a:xfrm>
          <a:prstGeom prst="ellipse">
            <a:avLst/>
          </a:prstGeom>
          <a:solidFill>
            <a:srgbClr val="273180"/>
          </a:solidFill>
        </p:spPr>
      </p:sp>
      <p:sp>
        <p:nvSpPr>
          <p:cNvPr id="4" name="Shape 2"/>
          <p:cNvSpPr/>
          <p:nvPr/>
        </p:nvSpPr>
        <p:spPr>
          <a:xfrm>
            <a:off x="822960" y="5394960"/>
            <a:ext cx="1005840" cy="1005840"/>
          </a:xfrm>
          <a:prstGeom prst="ellipse">
            <a:avLst/>
          </a:prstGeom>
          <a:solidFill>
            <a:srgbClr val="FFD43B"/>
          </a:solidFill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 &amp; DATA SCIENCE TOOLING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Python for Data Science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8869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Manipulation, Core Libraries &amp; Preprocessing with Pandas, NumPy, SciPy,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 and Matplotlib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5669280" cy="1737360"/>
          </a:xfrm>
          <a:prstGeom prst="roundRect">
            <a:avLst>
              <a:gd name="adj" fmla="val 5263"/>
            </a:avLst>
          </a:prstGeom>
          <a:solidFill>
            <a:srgbClr val="273180"/>
          </a:solidFill>
        </p:spPr>
      </p:sp>
      <p:sp>
        <p:nvSpPr>
          <p:cNvPr id="9" name="Text 7"/>
          <p:cNvSpPr/>
          <p:nvPr/>
        </p:nvSpPr>
        <p:spPr>
          <a:xfrm>
            <a:off x="1097280" y="4160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43484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Devi Shashank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4937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 GUIDE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521208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Dr. Krishnarajan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to Python &amp; IDEs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general-purpose language, and the environments used to write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4F6FB"/>
          </a:solidFill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Python, in brief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822960" y="22860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34440" y="2212848"/>
            <a:ext cx="452628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Readable, English-like syntax — fast to learn and write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822960" y="306324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34440" y="2990088"/>
            <a:ext cx="452628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Interpreted &amp; dynamically typed — no compile step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822960" y="384048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34440" y="3767328"/>
            <a:ext cx="452628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Backed by a huge ecosystem of open-source packages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6177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822960" y="46177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34440" y="4544568"/>
            <a:ext cx="452628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language for scripting, web apps, and data science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6002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4F6FB"/>
          </a:solidFill>
        </p:spPr>
      </p:sp>
      <p:sp>
        <p:nvSpPr>
          <p:cNvPr id="19" name="Text 17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IDEs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28600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6492240" y="22860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03720" y="2212848"/>
            <a:ext cx="4480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03720" y="2505456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Cell-based, ideal for exploratory 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306324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6492240" y="306324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03720" y="2990088"/>
            <a:ext cx="4480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Spyder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03720" y="3282696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Scientific IDE with a variable explorer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92240" y="384048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7"/>
          <p:cNvSpPr/>
          <p:nvPr/>
        </p:nvSpPr>
        <p:spPr>
          <a:xfrm>
            <a:off x="6492240" y="384048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03720" y="3767328"/>
            <a:ext cx="4480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Code / PyCharm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903720" y="4059936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General-purpose editors with Python tooling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92240" y="4617720"/>
            <a:ext cx="256032" cy="25603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1"/>
          <p:cNvSpPr/>
          <p:nvPr/>
        </p:nvSpPr>
        <p:spPr>
          <a:xfrm>
            <a:off x="6492240" y="46177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03720" y="4544568"/>
            <a:ext cx="4480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Colab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903720" y="4837176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cloud notebooks with GPU access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for Data Science  |  Preprocessing &amp; Core Libraries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Fundamental Python Libraries for Data Scientists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libraries form the backbone of the Python data-science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4114800"/>
          </a:xfrm>
          <a:prstGeom prst="roundRect">
            <a:avLst>
              <a:gd name="adj" fmla="val 3947"/>
            </a:avLst>
          </a:prstGeom>
          <a:solidFill>
            <a:srgbClr val="273180"/>
          </a:solidFill>
        </p:spPr>
      </p:sp>
      <p:sp>
        <p:nvSpPr>
          <p:cNvPr id="5" name="Shape 3"/>
          <p:cNvSpPr/>
          <p:nvPr/>
        </p:nvSpPr>
        <p:spPr>
          <a:xfrm>
            <a:off x="1271016" y="2057400"/>
            <a:ext cx="640080" cy="640080"/>
          </a:xfrm>
          <a:prstGeom prst="ellipse">
            <a:avLst/>
          </a:prstGeom>
          <a:solidFill>
            <a:srgbClr val="FFD43B"/>
          </a:solidFill>
        </p:spPr>
      </p:sp>
      <p:sp>
        <p:nvSpPr>
          <p:cNvPr id="6" name="Text 4"/>
          <p:cNvSpPr/>
          <p:nvPr/>
        </p:nvSpPr>
        <p:spPr>
          <a:xfrm>
            <a:off x="1271016" y="20574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474720"/>
            <a:ext cx="1755648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Fast, memory-efficient N-dimensional arrays and vectorized math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691640"/>
            <a:ext cx="2084832" cy="4114800"/>
          </a:xfrm>
          <a:prstGeom prst="roundRect">
            <a:avLst>
              <a:gd name="adj" fmla="val 3947"/>
            </a:avLst>
          </a:prstGeom>
          <a:solidFill>
            <a:srgbClr val="273180"/>
          </a:solidFill>
        </p:spPr>
      </p:sp>
      <p:sp>
        <p:nvSpPr>
          <p:cNvPr id="10" name="Shape 8"/>
          <p:cNvSpPr/>
          <p:nvPr/>
        </p:nvSpPr>
        <p:spPr>
          <a:xfrm>
            <a:off x="3557016" y="2057400"/>
            <a:ext cx="640080" cy="640080"/>
          </a:xfrm>
          <a:prstGeom prst="ellipse">
            <a:avLst/>
          </a:prstGeom>
          <a:solidFill>
            <a:srgbClr val="FFD43B"/>
          </a:solidFill>
        </p:spPr>
      </p:sp>
      <p:sp>
        <p:nvSpPr>
          <p:cNvPr id="11" name="Text 9"/>
          <p:cNvSpPr/>
          <p:nvPr/>
        </p:nvSpPr>
        <p:spPr>
          <a:xfrm>
            <a:off x="3557016" y="20574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71800" y="292608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SciPy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99232" y="3474720"/>
            <a:ext cx="1755648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Scientific computing: statistics, optimization, signal processing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691640"/>
            <a:ext cx="2084832" cy="4114800"/>
          </a:xfrm>
          <a:prstGeom prst="roundRect">
            <a:avLst>
              <a:gd name="adj" fmla="val 3947"/>
            </a:avLst>
          </a:prstGeom>
          <a:solidFill>
            <a:srgbClr val="273180"/>
          </a:solidFill>
        </p:spPr>
      </p:sp>
      <p:sp>
        <p:nvSpPr>
          <p:cNvPr id="15" name="Shape 13"/>
          <p:cNvSpPr/>
          <p:nvPr/>
        </p:nvSpPr>
        <p:spPr>
          <a:xfrm>
            <a:off x="5843016" y="2057400"/>
            <a:ext cx="640080" cy="640080"/>
          </a:xfrm>
          <a:prstGeom prst="ellipse">
            <a:avLst/>
          </a:prstGeom>
          <a:solidFill>
            <a:srgbClr val="FFD43B"/>
          </a:solidFill>
        </p:spPr>
      </p:sp>
      <p:sp>
        <p:nvSpPr>
          <p:cNvPr id="16" name="Text 14"/>
          <p:cNvSpPr/>
          <p:nvPr/>
        </p:nvSpPr>
        <p:spPr>
          <a:xfrm>
            <a:off x="5843016" y="20574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57800" y="292608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85232" y="3474720"/>
            <a:ext cx="1755648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learning: classification, regression, clustering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691640"/>
            <a:ext cx="2084832" cy="4114800"/>
          </a:xfrm>
          <a:prstGeom prst="roundRect">
            <a:avLst>
              <a:gd name="adj" fmla="val 3947"/>
            </a:avLst>
          </a:prstGeom>
          <a:solidFill>
            <a:srgbClr val="273180"/>
          </a:solidFill>
        </p:spPr>
      </p:sp>
      <p:sp>
        <p:nvSpPr>
          <p:cNvPr id="20" name="Shape 18"/>
          <p:cNvSpPr/>
          <p:nvPr/>
        </p:nvSpPr>
        <p:spPr>
          <a:xfrm>
            <a:off x="8129016" y="2057400"/>
            <a:ext cx="640080" cy="640080"/>
          </a:xfrm>
          <a:prstGeom prst="ellipse">
            <a:avLst/>
          </a:prstGeom>
          <a:solidFill>
            <a:srgbClr val="FFD43B"/>
          </a:solidFill>
        </p:spPr>
      </p:sp>
      <p:sp>
        <p:nvSpPr>
          <p:cNvPr id="21" name="Text 19"/>
          <p:cNvSpPr/>
          <p:nvPr/>
        </p:nvSpPr>
        <p:spPr>
          <a:xfrm>
            <a:off x="8129016" y="20574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43800" y="292608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71232" y="3474720"/>
            <a:ext cx="1755648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Tabular data structures for cleaning and manipulation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92640" y="1691640"/>
            <a:ext cx="2084832" cy="4114800"/>
          </a:xfrm>
          <a:prstGeom prst="roundRect">
            <a:avLst>
              <a:gd name="adj" fmla="val 3947"/>
            </a:avLst>
          </a:prstGeom>
          <a:solidFill>
            <a:srgbClr val="273180"/>
          </a:solidFill>
        </p:spPr>
      </p:sp>
      <p:sp>
        <p:nvSpPr>
          <p:cNvPr id="25" name="Shape 23"/>
          <p:cNvSpPr/>
          <p:nvPr/>
        </p:nvSpPr>
        <p:spPr>
          <a:xfrm>
            <a:off x="10415016" y="2057400"/>
            <a:ext cx="640080" cy="640080"/>
          </a:xfrm>
          <a:prstGeom prst="ellipse">
            <a:avLst/>
          </a:prstGeom>
          <a:solidFill>
            <a:srgbClr val="FFD43B"/>
          </a:solidFill>
        </p:spPr>
      </p:sp>
      <p:sp>
        <p:nvSpPr>
          <p:cNvPr id="26" name="Text 24"/>
          <p:cNvSpPr/>
          <p:nvPr/>
        </p:nvSpPr>
        <p:spPr>
          <a:xfrm>
            <a:off x="10415016" y="20574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29800" y="2926080"/>
            <a:ext cx="181051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57232" y="3474720"/>
            <a:ext cx="1755648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charts and plots for visualizing results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for Data Science  |  Preprocessing &amp; Core Libraries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Reading, Selection &amp; Missing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first steps of any preprocessing workflow: load it, pick what matters, handle the gaps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063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06324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is loaded into a DataFrame from CSV, Excel, SQL, or JSON sources, giving a single tabular structure to work with.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4F6FB"/>
          </a:solidFill>
        </p:spPr>
      </p:sp>
      <p:sp>
        <p:nvSpPr>
          <p:cNvPr id="10" name="Shape 8"/>
          <p:cNvSpPr/>
          <p:nvPr/>
        </p:nvSpPr>
        <p:spPr>
          <a:xfrm>
            <a:off x="4709160" y="205740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4709160" y="2057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063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3337560"/>
            <a:ext cx="306324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Specific rows or columns are picked using label-based or position-based indexing to focus analysis on what's relevant.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4F6FB"/>
          </a:solidFill>
        </p:spPr>
      </p:sp>
      <p:sp>
        <p:nvSpPr>
          <p:cNvPr id="15" name="Shape 13"/>
          <p:cNvSpPr/>
          <p:nvPr/>
        </p:nvSpPr>
        <p:spPr>
          <a:xfrm>
            <a:off x="8595360" y="205740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8595360" y="2057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2743200"/>
            <a:ext cx="3063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Filtering Missing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0" y="3337560"/>
            <a:ext cx="306324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 are detected, then either removed or filled in, so they don't distort later calculations.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for Data Science  |  Preprocessing &amp; Core Libraries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Sorting, Grouping &amp; Ranking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Reorganising and summarising data to reveal structure and priority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822960" y="205740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90195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0560" y="1901952"/>
            <a:ext cx="6858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Rows are reordered by the values in one or more columns, or by the index, to bring the most relevant records to the top.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</p:spPr>
      </p:sp>
      <p:sp>
        <p:nvSpPr>
          <p:cNvPr id="10" name="Shape 8"/>
          <p:cNvSpPr/>
          <p:nvPr/>
        </p:nvSpPr>
        <p:spPr>
          <a:xfrm>
            <a:off x="822960" y="347472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822960" y="347472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31927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319272"/>
            <a:ext cx="6858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is split into buckets by a shared key (e.g. region or category), an aggregation is applied within each bucket, and results are combined.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</p:spPr>
      </p:sp>
      <p:sp>
        <p:nvSpPr>
          <p:cNvPr id="15" name="Shape 13"/>
          <p:cNvSpPr/>
          <p:nvPr/>
        </p:nvSpPr>
        <p:spPr>
          <a:xfrm>
            <a:off x="822960" y="489204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822960" y="489204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4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73659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4736592"/>
            <a:ext cx="6858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numeric rank is assigned to each row based on a chosen value — useful for leaderboards, percentiles, and prioritisation.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for Data Science  |  Preprocessing &amp; Core Libraries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657600" cy="3657600"/>
          </a:xfrm>
          <a:prstGeom prst="ellipse">
            <a:avLst/>
          </a:prstGeom>
          <a:solidFill>
            <a:srgbClr val="141A47"/>
          </a:solidFill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Plotting &amp; Visualization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cleaned, organised data into visual insight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FFD43B"/>
          </a:solidFill>
        </p:spPr>
      </p:sp>
      <p:sp>
        <p:nvSpPr>
          <p:cNvPr id="6" name="Text 4"/>
          <p:cNvSpPr/>
          <p:nvPr/>
        </p:nvSpPr>
        <p:spPr>
          <a:xfrm>
            <a:off x="822960" y="19659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692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 provides fine-grained control over figures, axes, colors, and labels for any chart type.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411480" cy="411480"/>
          </a:xfrm>
          <a:prstGeom prst="ellipse">
            <a:avLst/>
          </a:prstGeom>
          <a:solidFill>
            <a:srgbClr val="FFD43B"/>
          </a:solidFill>
        </p:spPr>
      </p:sp>
      <p:sp>
        <p:nvSpPr>
          <p:cNvPr id="9" name="Text 7"/>
          <p:cNvSpPr/>
          <p:nvPr/>
        </p:nvSpPr>
        <p:spPr>
          <a:xfrm>
            <a:off x="822960" y="29260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880360"/>
            <a:ext cx="9692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chart types — line, bar, scatter, and histogram — reveal trends, comparisons, relationships, and distributions respectively.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411480" cy="411480"/>
          </a:xfrm>
          <a:prstGeom prst="ellipse">
            <a:avLst/>
          </a:prstGeom>
          <a:solidFill>
            <a:srgbClr val="FFD43B"/>
          </a:solidFill>
        </p:spPr>
      </p:sp>
      <p:sp>
        <p:nvSpPr>
          <p:cNvPr id="12" name="Text 10"/>
          <p:cNvSpPr/>
          <p:nvPr/>
        </p:nvSpPr>
        <p:spPr>
          <a:xfrm>
            <a:off x="822960" y="388620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840480"/>
            <a:ext cx="9692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Pandas' built-in .plot() lets a DataFrame or grouped result be charted directly, without extra setup.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846320"/>
            <a:ext cx="411480" cy="411480"/>
          </a:xfrm>
          <a:prstGeom prst="ellipse">
            <a:avLst/>
          </a:prstGeom>
          <a:solidFill>
            <a:srgbClr val="FFD43B"/>
          </a:solidFill>
        </p:spPr>
      </p:sp>
      <p:sp>
        <p:nvSpPr>
          <p:cNvPr id="15" name="Text 13"/>
          <p:cNvSpPr/>
          <p:nvPr/>
        </p:nvSpPr>
        <p:spPr>
          <a:xfrm>
            <a:off x="822960" y="48463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800600"/>
            <a:ext cx="9692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well-labelled chart is the payoff of a disciplined preprocessing pipeline — it turns numbers into a story.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for Data Science  |  Preprocessing &amp; Core Libraries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3027</Words>
  <Application>WPS Presentation</Application>
  <PresentationFormat>On-screen Show (16:9)</PresentationFormat>
  <Paragraphs>181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WPS_1777002634</cp:lastModifiedBy>
  <cp:revision>2</cp:revision>
  <dcterms:created xsi:type="dcterms:W3CDTF">2026-08-03T05:58:00Z</dcterms:created>
  <dcterms:modified xsi:type="dcterms:W3CDTF">2026-08-12T04:46:33Z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3F579AF1234B4E9989F14457E7F9A47B_13</vt:lpwstr>
  </property>
  <property fmtid="{D5CDD505-2E9C-101B-9397-08002B2CF9AE}" pid="3" name="KSOProductBuildVer">
    <vt:lpwstr>1033-12.1.0.28032</vt:lpwstr>
  </property>
</Properties>
</file>